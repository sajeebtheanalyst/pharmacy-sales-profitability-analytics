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48640"/>
            <a:ext cx="11155680" cy="571500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4823460" cy="108337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3400" b="1">
                <a:solidFill>
                  <a:srgbClr val="F4F7FF"/>
                </a:solidFill>
                <a:latin typeface="Aptos"/>
              </a:defRPr>
            </a:pPr>
            <a:r>
              <a:rPr dirty="0"/>
              <a:t>PHARMACY SALES</a:t>
            </a:r>
          </a:p>
          <a:p>
            <a:pPr>
              <a:defRPr sz="3400" b="1">
                <a:solidFill>
                  <a:srgbClr val="F4F7FF"/>
                </a:solidFill>
                <a:latin typeface="Aptos"/>
              </a:defRPr>
            </a:pPr>
            <a:r>
              <a:rPr dirty="0"/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331720"/>
            <a:ext cx="960120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900" b="1">
                <a:solidFill>
                  <a:srgbClr val="00D4FF"/>
                </a:solidFill>
                <a:latin typeface="Aptos"/>
              </a:defRPr>
            </a:pPr>
            <a:r>
              <a:t>Project Summary &amp; Management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83464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EUROPEAN PHARMACY CHAIN  |  PERIOD SHOWN: 2024–2025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3657600"/>
            <a:ext cx="2395728" cy="123444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6112" y="3657600"/>
            <a:ext cx="54864" cy="123444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216712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95928"/>
            <a:ext cx="2167128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€4.41M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36007"/>
            <a:ext cx="2167128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YoY +4.4%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657600"/>
            <a:ext cx="2395728" cy="123444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3657600"/>
            <a:ext cx="54864" cy="1234440"/>
          </a:xfrm>
          <a:prstGeom prst="rect">
            <a:avLst/>
          </a:prstGeom>
          <a:solidFill>
            <a:srgbClr val="7628FF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3749039"/>
            <a:ext cx="216712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995928"/>
            <a:ext cx="2167128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€1.24M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4636007"/>
            <a:ext cx="2167128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YoY +4.9%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657600"/>
            <a:ext cx="2395728" cy="1234440"/>
          </a:xfrm>
          <a:prstGeom prst="roundRect">
            <a:avLst/>
          </a:prstGeom>
          <a:solidFill>
            <a:srgbClr val="080D2B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6208" y="3657600"/>
            <a:ext cx="54864" cy="1234440"/>
          </a:xfrm>
          <a:prstGeom prst="rect">
            <a:avLst/>
          </a:prstGeom>
          <a:solidFill>
            <a:srgbClr val="E326FF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3749039"/>
            <a:ext cx="216712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995928"/>
            <a:ext cx="2167128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28.11%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636007"/>
            <a:ext cx="2167128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YoY +0.1%*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3657600"/>
            <a:ext cx="2395728" cy="123444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06256" y="3657600"/>
            <a:ext cx="54864" cy="1234440"/>
          </a:xfrm>
          <a:prstGeom prst="rect">
            <a:avLst/>
          </a:prstGeom>
          <a:solidFill>
            <a:srgbClr val="168BFF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61704" y="3749039"/>
            <a:ext cx="216712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3995928"/>
            <a:ext cx="2167128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31,827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4636007"/>
            <a:ext cx="2167128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YoY +5.0%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0352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100" b="1">
                <a:solidFill>
                  <a:srgbClr val="F4F7FF"/>
                </a:solidFill>
                <a:latin typeface="Aptos"/>
              </a:defRPr>
            </a:pPr>
            <a:r>
              <a:t>Prepared by Sajeeb  |  Data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*Confirm whether margin change means percentage points or relative percentage growth.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4920E8C-165B-46DD-9BF6-B8EF76D99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594" y="716661"/>
            <a:ext cx="1675638" cy="16756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A concise readout of the workbook's current performance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542032" cy="128016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54864" cy="12801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2313432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09928"/>
            <a:ext cx="2313432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€4.41M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2313432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+4.4% YoY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371600"/>
            <a:ext cx="2542032" cy="128016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79" y="1371600"/>
            <a:ext cx="54864" cy="1280160"/>
          </a:xfrm>
          <a:prstGeom prst="rect">
            <a:avLst/>
          </a:prstGeom>
          <a:solidFill>
            <a:srgbClr val="7628FF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7" y="1463040"/>
            <a:ext cx="2313432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7" y="1709928"/>
            <a:ext cx="2313432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€1.24M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7" y="2395728"/>
            <a:ext cx="2313432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+4.9% YoY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71600"/>
            <a:ext cx="2542032" cy="1280160"/>
          </a:xfrm>
          <a:prstGeom prst="roundRect">
            <a:avLst/>
          </a:prstGeom>
          <a:solidFill>
            <a:srgbClr val="080D2B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4864" cy="1280160"/>
          </a:xfrm>
          <a:prstGeom prst="rect">
            <a:avLst/>
          </a:prstGeom>
          <a:solidFill>
            <a:srgbClr val="E326FF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463040"/>
            <a:ext cx="2313432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709928"/>
            <a:ext cx="2313432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28.11%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395728"/>
            <a:ext cx="2313432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+0.1% shown*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19" y="1371600"/>
            <a:ext cx="2542032" cy="128016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19" y="1371600"/>
            <a:ext cx="54864" cy="1280160"/>
          </a:xfrm>
          <a:prstGeom prst="rect">
            <a:avLst/>
          </a:prstGeom>
          <a:solidFill>
            <a:srgbClr val="168BFF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7" y="1463040"/>
            <a:ext cx="2313432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8CA8D8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1709928"/>
            <a:ext cx="2313432" cy="4297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300" b="1">
                <a:solidFill>
                  <a:srgbClr val="F4F7FF"/>
                </a:solidFill>
                <a:latin typeface="Aptos"/>
              </a:defRPr>
            </a:pPr>
            <a:r>
              <a:t>31,827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313432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00A982"/>
                </a:solidFill>
                <a:latin typeface="Aptos"/>
              </a:defRPr>
            </a:pPr>
            <a:r>
              <a:t>+5.0% YoY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971800"/>
            <a:ext cx="5349240" cy="274320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200400"/>
            <a:ext cx="47548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ptos"/>
              </a:defRPr>
            </a:pPr>
            <a:r>
              <a:t>POSITIVE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11880"/>
            <a:ext cx="475488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Revenue, profit, transactions and quantity are shown growing YoY.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Profit growth (+4.9%) is slightly ahead of revenue growth (+4.4%).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Displayed margin is consistent with profit divided by revenue.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971800"/>
            <a:ext cx="5303520" cy="274320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200400"/>
            <a:ext cx="47548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E326FF"/>
                </a:solidFill>
                <a:latin typeface="Aptos"/>
              </a:defRPr>
            </a:pPr>
            <a:r>
              <a:t>INVESTIGATE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611880"/>
            <a:ext cx="466344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Margin movement is small; confirm the exact calculation.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Transactions grew faster than revenue; check revenue per transaction.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Screenshots do not establish causal drivers or recurring seasonality.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KPI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Use the same definitions, date range and filters across MIS and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9202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90472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ptos"/>
              </a:defRPr>
            </a:pPr>
            <a:r>
              <a:t>€4.41M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50876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A982"/>
                </a:solidFill>
                <a:latin typeface="Aptos"/>
              </a:defRPr>
            </a:pPr>
            <a:r>
              <a:t>+4.4%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81328"/>
            <a:ext cx="5943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Decompose into units, price and product mix.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93976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231136"/>
            <a:ext cx="19202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12848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ptos"/>
              </a:defRPr>
            </a:pPr>
            <a:r>
              <a:t>€3.17M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31136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A982"/>
                </a:solidFill>
                <a:latin typeface="Aptos"/>
              </a:defRPr>
            </a:pPr>
            <a:r>
              <a:t>+4.2%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203704"/>
            <a:ext cx="5943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Cost growth is slightly below revenue growth; validate cost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16352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953512"/>
            <a:ext cx="19202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35224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ptos"/>
              </a:defRPr>
            </a:pPr>
            <a:r>
              <a:t>€1.24M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953512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A982"/>
                </a:solidFill>
                <a:latin typeface="Aptos"/>
              </a:defRPr>
            </a:pPr>
            <a:r>
              <a:t>+4.9%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926080"/>
            <a:ext cx="5943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Profit grows faster than revenue in the displayed summary.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38728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675888"/>
            <a:ext cx="19202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65760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ptos"/>
              </a:defRPr>
            </a:pPr>
            <a:r>
              <a:t>28.11%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675888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A982"/>
                </a:solidFill>
                <a:latin typeface="Aptos"/>
              </a:defRPr>
            </a:pPr>
            <a:r>
              <a:t>+0.1%*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648456"/>
            <a:ext cx="5943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Clarify percentage-point vs relative change.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61104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398264"/>
            <a:ext cx="19202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37997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ptos"/>
              </a:defRPr>
            </a:pPr>
            <a:r>
              <a:t>31,827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39826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A982"/>
                </a:solidFill>
                <a:latin typeface="Aptos"/>
              </a:defRPr>
            </a:pPr>
            <a:r>
              <a:t>+5.0%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370832"/>
            <a:ext cx="5943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Revenue per transaction may have softened; validate matching filters.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983480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120640"/>
            <a:ext cx="19202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Quantity Sold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02352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ptos"/>
              </a:defRPr>
            </a:pPr>
            <a:r>
              <a:t>227,991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12064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A982"/>
                </a:solidFill>
                <a:latin typeface="Aptos"/>
              </a:defRPr>
            </a:pPr>
            <a:r>
              <a:t>+4.7%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093208"/>
            <a:ext cx="5943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Compare unit growth with revenue growth to assess price/mix.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Monthly Trend: What the View Suggests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Descriptive observations only; validate seasonality across multiple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658368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59436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ptos"/>
              </a:defRPr>
            </a:pPr>
            <a:r>
              <a:t>MONTHLY REVENUE (VISIBLE TABLE VALUES)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797269"/>
            <a:ext cx="283464" cy="2049050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Jan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2184" y="2892171"/>
            <a:ext cx="283464" cy="1954148"/>
          </a:xfrm>
          <a:prstGeom prst="roundRect">
            <a:avLst/>
          </a:prstGeom>
          <a:solidFill>
            <a:srgbClr val="E326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35608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Feb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56816" y="2740543"/>
            <a:ext cx="283464" cy="2105776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448" y="2737876"/>
            <a:ext cx="283464" cy="2108443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04872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Apr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514600"/>
            <a:ext cx="283464" cy="2331720"/>
          </a:xfrm>
          <a:prstGeom prst="round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9504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May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0712" y="2594437"/>
            <a:ext cx="283464" cy="2251882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4136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Jun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95344" y="2586848"/>
            <a:ext cx="283464" cy="2259471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58768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Jul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2663799"/>
            <a:ext cx="283464" cy="2182520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Aug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2627262"/>
            <a:ext cx="283464" cy="2219057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28032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Sep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2577970"/>
            <a:ext cx="283464" cy="2268349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12664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Oct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2663858"/>
            <a:ext cx="283464" cy="2182461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97296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Nov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4" y="2569034"/>
            <a:ext cx="283464" cy="2277285"/>
          </a:xfrm>
          <a:prstGeom prst="roundRect">
            <a:avLst/>
          </a:prstGeom>
          <a:solidFill>
            <a:srgbClr val="168B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81928" y="4937760"/>
            <a:ext cx="3657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700" b="0">
                <a:solidFill>
                  <a:srgbClr val="8CA8D8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965960"/>
            <a:ext cx="59436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€ | values transcribed from screenshot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1371600"/>
            <a:ext cx="402336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0" y="164592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E326FF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057400"/>
            <a:ext cx="3383280" cy="3474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Lowest visible month: February (~€329.1K).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Highest visible month: May (~€392.7K).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Revenue fluctuates in the second half.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One year cannot confirm recurring seasonality.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Investigate stock, category mix, pricing and campaigns.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Product Profitability: Beyond Revenue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Use product-level sales and profit to identify portfolio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ptos"/>
              </a:defRPr>
            </a:pPr>
            <a:r>
              <a:t>ANALYTICAL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3383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Which products have high unit volume but low margin?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Which products have strong margin but low volume?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Are best sellers also the largest profit contributors?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Does ranking change by country or pharmacy type?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Are low-profit items affected by discounts or costs?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663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E326FF"/>
                </a:solidFill>
                <a:latin typeface="Aptos"/>
              </a:defRPr>
            </a:pPr>
            <a:r>
              <a:t>RECOMMENDED PRODUCT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94560"/>
            <a:ext cx="2103120" cy="1325880"/>
          </a:xfrm>
          <a:prstGeom prst="roundRect">
            <a:avLst/>
          </a:prstGeom>
          <a:solidFill>
            <a:srgbClr val="2C1349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578608"/>
            <a:ext cx="19202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Low volume</a:t>
            </a:r>
          </a:p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High 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194560"/>
            <a:ext cx="2103120" cy="1325880"/>
          </a:xfrm>
          <a:prstGeom prst="roundRect">
            <a:avLst/>
          </a:prstGeom>
          <a:solidFill>
            <a:srgbClr val="12374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19" y="2578608"/>
            <a:ext cx="19202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High volume</a:t>
            </a:r>
          </a:p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High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657600"/>
            <a:ext cx="2103120" cy="1325880"/>
          </a:xfrm>
          <a:prstGeom prst="roundRect">
            <a:avLst/>
          </a:prstGeom>
          <a:solidFill>
            <a:srgbClr val="1D1D4E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4041648"/>
            <a:ext cx="19202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Low volume</a:t>
            </a:r>
          </a:p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Low 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657600"/>
            <a:ext cx="2103120" cy="1325880"/>
          </a:xfrm>
          <a:prstGeom prst="roundRect">
            <a:avLst/>
          </a:prstGeom>
          <a:solidFill>
            <a:srgbClr val="10274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19" y="4041648"/>
            <a:ext cx="19202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High volume</a:t>
            </a:r>
          </a:p>
          <a:p>
            <a:pPr algn="ctr">
              <a:defRPr sz="1100" b="1">
                <a:solidFill>
                  <a:srgbClr val="F4F7FF"/>
                </a:solidFill>
                <a:latin typeface="Aptos"/>
              </a:defRPr>
            </a:pPr>
            <a:r>
              <a:t>Low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2976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800" b="0">
                <a:solidFill>
                  <a:srgbClr val="8CA8D8"/>
                </a:solidFill>
                <a:latin typeface="Aptos"/>
              </a:defRPr>
            </a:pPr>
            <a:r>
              <a:t>X = Units Sold  |  Y = Margin %  |  Size =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Geography &amp; Pharmacy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Shift from raw totals to comparable, actionable performance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4924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663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ptos"/>
              </a:defRPr>
            </a:pPr>
            <a:r>
              <a:t>GEOGRAPHIC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3383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Pair country revenue with profit, margin rate and YoY growth.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Show share of total revenue and total profit separately.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Enable Country → Region → Pharmacy drill-down.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Flag high-revenue markets with below-average margin.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Use a map only when geography fields are clean.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663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E326FF"/>
                </a:solidFill>
                <a:latin typeface="Aptos"/>
              </a:defRPr>
            </a:pPr>
            <a:r>
              <a:t>PHARMACY PEER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572000" cy="3383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Compare pharmacies with their region and Urban/Suburban/Rural peers.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Show variance from peer average, not rank alone.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Add revenue per transaction and profit margin.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Separate low sales from low profitability.</a:t>
            </a:r>
          </a:p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•  Create a watchlist of the largest negative gaps.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Promotion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A promoted/non-promoted split is descriptive, not proof of incremental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27080" cy="105156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24128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500" b="1">
                <a:solidFill>
                  <a:srgbClr val="F4F7FF"/>
                </a:solidFill>
                <a:latin typeface="Aptos"/>
              </a:defRPr>
            </a:pPr>
            <a:r>
              <a:t>CORE QUESTION: Did a promotion create additional profitable demand after discounts—or reduce margin on sales that would have happened anyway?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3337560" cy="228600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28346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Revenue, units, profit, margin %, discount and profit per unit.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880360"/>
            <a:ext cx="3337560" cy="228600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315468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7628F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657600"/>
            <a:ext cx="28346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Compare similar products/stores or a matched pre/post period.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880360"/>
            <a:ext cx="3337560" cy="2286000"/>
          </a:xfrm>
          <a:prstGeom prst="roundRect">
            <a:avLst/>
          </a:prstGeom>
          <a:solidFill>
            <a:srgbClr val="080D2B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15468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E326F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657600"/>
            <a:ext cx="28346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F4F7FF"/>
                </a:solidFill>
                <a:latin typeface="Aptos"/>
              </a:defRPr>
            </a:pPr>
            <a:r>
              <a:t>Retain or adjust promotions based on incremental profit—not volume alone.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104241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Validation required: confirm promotion flags, discounts and comparable date windows are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Priority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Recommended order of work for a more decision-ready Excel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17904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81328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100" b="1">
                <a:solidFill>
                  <a:srgbClr val="F4F7FF"/>
                </a:solidFill>
                <a:latin typeface="Aptos"/>
              </a:defRPr>
            </a:pPr>
            <a:r>
              <a:t>Reconcile KPI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81328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Reconcile Revenue, Cost, Profit, Margin, Orders, Transactions and Quantity.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93976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03704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100" b="1">
                <a:solidFill>
                  <a:srgbClr val="F4F7FF"/>
                </a:solidFill>
                <a:latin typeface="Aptos"/>
              </a:defRPr>
            </a:pPr>
            <a:r>
              <a:t>Standardize PY / YoY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03704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Use a complete date table and identical date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16352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962656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7628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26080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100" b="1">
                <a:solidFill>
                  <a:srgbClr val="F4F7FF"/>
                </a:solidFill>
                <a:latin typeface="Aptos"/>
              </a:defRPr>
            </a:pPr>
            <a:r>
              <a:t>Benchmark pharmacy peers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Rank within region/type and show variance from peer average.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38728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685032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7628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48456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100" b="1">
                <a:solidFill>
                  <a:srgbClr val="F4F7FF"/>
                </a:solidFill>
                <a:latin typeface="Aptos"/>
              </a:defRPr>
            </a:pPr>
            <a:r>
              <a:t>Build product margin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48456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Identify high-volume/low-margin and low-volume/high-margin items.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61104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07408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E326FF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70832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100" b="1">
                <a:solidFill>
                  <a:srgbClr val="F4F7FF"/>
                </a:solidFill>
                <a:latin typeface="Aptos"/>
              </a:defRPr>
            </a:pPr>
            <a:r>
              <a:t>Strengthen promotion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370832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Include discount, profit per unit and a matched baseline.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927080" cy="594360"/>
          </a:xfrm>
          <a:prstGeom prst="roundRect">
            <a:avLst/>
          </a:prstGeom>
          <a:solidFill>
            <a:srgbClr val="080D2B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129784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E326FF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93208"/>
            <a:ext cx="2971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100" b="1">
                <a:solidFill>
                  <a:srgbClr val="F4F7FF"/>
                </a:solidFill>
                <a:latin typeface="Aptos"/>
              </a:defRPr>
            </a:pPr>
            <a:r>
              <a:t>Improve dashboard clarity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93208"/>
            <a:ext cx="67665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Fix truncated headers, formats, legends and refresh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30-Day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A practical sequence from metric trust to business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14600" cy="301752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Validate data model &amp;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80"/>
            <a:ext cx="2103120" cy="11430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Reconcile totals; define measures; confirm period and PY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14600" cy="3017520"/>
          </a:xfrm>
          <a:prstGeom prst="roundRect">
            <a:avLst/>
          </a:prstGeom>
          <a:solidFill>
            <a:srgbClr val="080D2B"/>
          </a:solidFill>
          <a:ln>
            <a:solidFill>
              <a:srgbClr val="16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10312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168BFF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Build deeper comparisons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383280"/>
            <a:ext cx="2103120" cy="11430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Create pharmacy peer benchmarks and product margin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514600" cy="301752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7628FF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Improve promotion &amp; geography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83280"/>
            <a:ext cx="2103120" cy="11430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Add profit-focused promo comparisons and Country → Pharmacy drill-down.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828800"/>
            <a:ext cx="2514600" cy="3017520"/>
          </a:xfrm>
          <a:prstGeom prst="roundRect">
            <a:avLst/>
          </a:prstGeom>
          <a:solidFill>
            <a:srgbClr val="080D2B"/>
          </a:solidFill>
          <a:ln>
            <a:solidFill>
              <a:srgbClr val="E32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19" y="2103120"/>
            <a:ext cx="21031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1">
                <a:solidFill>
                  <a:srgbClr val="E326FF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560320"/>
            <a:ext cx="2103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F4F7FF"/>
                </a:solidFill>
                <a:latin typeface="Aptos"/>
              </a:defRPr>
            </a:pPr>
            <a:r>
              <a:t>QA &amp; stakeholder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383280"/>
            <a:ext cx="2103120" cy="11430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Test slicers, calculations, labels, conditional formatting and export.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1051560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F4F7FF"/>
                </a:solidFill>
                <a:latin typeface="Aptos"/>
              </a:defRPr>
            </a:pPr>
            <a:r>
              <a:t>Success: stakeholders can identify a performance gap, understand its context, and navigate to the relevant country, pharmacy or product without reconciling conflicting totals.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F4F7FF"/>
                </a:solidFill>
                <a:latin typeface="Aptos"/>
              </a:defRPr>
            </a:pPr>
            <a:r>
              <a:t>Analyst Conclusion &amp; Validation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000" b="0">
                <a:solidFill>
                  <a:srgbClr val="8CA8D8"/>
                </a:solidFill>
                <a:latin typeface="Aptos"/>
              </a:defRPr>
            </a:pPr>
            <a:r>
              <a:t>A strong reporting foundation; next step is analytical consistency and actionability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1064240" cy="2286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800" b="0">
                <a:solidFill>
                  <a:srgbClr val="8CA8D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Aptos"/>
              </a:defRPr>
            </a:pPr>
            <a:r>
              <a:t>BEFORE FINALIZING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3474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Confirm reporting period and PY range.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Validate cost coverage and profit definition.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Clarify Orders vs Transactions labels.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Reconcile monthly values to annual KPI.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Confirm margin change unit (% vs points).</a:t>
            </a:r>
          </a:p>
          <a:p>
            <a:pPr>
              <a:defRPr sz="1200" b="0">
                <a:solidFill>
                  <a:srgbClr val="F4F7FF"/>
                </a:solidFill>
                <a:latin typeface="Aptos"/>
              </a:defRPr>
            </a:pPr>
            <a:r>
              <a:t>•  Validate promotion and pharmacy-type definitions.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526280"/>
          </a:xfrm>
          <a:prstGeom prst="roundRect">
            <a:avLst/>
          </a:prstGeom>
          <a:solidFill>
            <a:srgbClr val="080D2B"/>
          </a:solidFill>
          <a:ln>
            <a:solidFill>
              <a:srgbClr val="762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200" b="1">
                <a:solidFill>
                  <a:srgbClr val="E326FF"/>
                </a:solidFill>
                <a:latin typeface="Aptos"/>
              </a:defRPr>
            </a:pPr>
            <a: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572000" cy="23774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700" b="1">
                <a:solidFill>
                  <a:srgbClr val="F4F7FF"/>
                </a:solidFill>
                <a:latin typeface="Aptos"/>
              </a:defRPr>
            </a:pPr>
            <a:r>
              <a:t>The workbook already covers core reporting needs. Its greatest opportunity is peer-normalized pharmacy performance, product-level margin opportunities and promotion decisions based on incremental profit.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983480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0">
                <a:solidFill>
                  <a:srgbClr val="8CA8D8"/>
                </a:solidFill>
                <a:latin typeface="Aptos"/>
              </a:defRPr>
            </a:pPr>
            <a:r>
              <a:t>Evidence note: conclusions are based on screenshots; raw workbook validation is still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1033</Words>
  <Application>Microsoft Office PowerPoint</Application>
  <PresentationFormat>Widescreen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Sales Analytics Project Summary</dc:title>
  <dc:subject>MIS and dashboard findings, improvements and action plan</dc:subject>
  <dc:creator>Sajeeb | Data Analyst</dc:creator>
  <cp:keywords/>
  <dc:description>generated using python-pptx</dc:description>
  <cp:lastModifiedBy>Mosaddek H Sajeeb</cp:lastModifiedBy>
  <cp:revision>2</cp:revision>
  <dcterms:created xsi:type="dcterms:W3CDTF">2013-01-27T09:14:16Z</dcterms:created>
  <dcterms:modified xsi:type="dcterms:W3CDTF">2026-10-22T03:35:52Z</dcterms:modified>
  <cp:category/>
</cp:coreProperties>
</file>